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Network results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640080" y="1828800"/>
            <a:ext cx="7863840" cy="2560320"/>
            <a:chOff x="640080" y="1828800"/>
            <a:chExt cx="7863840" cy="2560320"/>
          </a:xfrm>
        </p:grpSpPr>
        <p:grpSp>
          <p:nvGrpSpPr>
            <p:cNvPr id="4" name="Group 3"/>
            <p:cNvGrpSpPr/>
            <p:nvPr/>
          </p:nvGrpSpPr>
          <p:grpSpPr>
            <a:xfrm>
              <a:off x="640080" y="1828800"/>
              <a:ext cx="2377440" cy="2560320"/>
              <a:chOff x="640080" y="1828800"/>
              <a:chExt cx="2377440" cy="2560320"/>
            </a:xfrm>
          </p:grpSpPr>
          <p:sp>
            <p:nvSpPr>
              <p:cNvPr id="5" name="Oval 4"/>
              <p:cNvSpPr/>
              <p:nvPr/>
            </p:nvSpPr>
            <p:spPr>
              <a:xfrm>
                <a:off x="640080" y="1828800"/>
                <a:ext cx="457200" cy="457200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640080" y="2377440"/>
                <a:ext cx="2377440" cy="91440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4000"/>
                  <a:t>$2.4M</a:t>
                </a:r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640080" y="3291840"/>
                <a:ext cx="2377440" cy="54864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t>Fare revenue</a:t>
                </a:r>
              </a:p>
            </p:txBody>
          </p:sp>
          <p:sp>
            <p:nvSpPr>
              <p:cNvPr id="8" name="TextBox 7"/>
              <p:cNvSpPr txBox="1"/>
              <p:nvPr/>
            </p:nvSpPr>
            <p:spPr>
              <a:xfrm>
                <a:off x="640080" y="3840480"/>
                <a:ext cx="2377440" cy="54864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t>Up 42% year over year</a:t>
                </a:r>
              </a:p>
            </p:txBody>
          </p:sp>
        </p:grpSp>
        <p:grpSp>
          <p:nvGrpSpPr>
            <p:cNvPr id="9" name="Group 8"/>
            <p:cNvGrpSpPr/>
            <p:nvPr/>
          </p:nvGrpSpPr>
          <p:grpSpPr>
            <a:xfrm>
              <a:off x="3383280" y="1828800"/>
              <a:ext cx="2377440" cy="2011680"/>
              <a:chOff x="3383280" y="1828800"/>
              <a:chExt cx="2377440" cy="2011680"/>
            </a:xfrm>
          </p:grpSpPr>
          <p:sp>
            <p:nvSpPr>
              <p:cNvPr id="10" name="Oval 9"/>
              <p:cNvSpPr/>
              <p:nvPr/>
            </p:nvSpPr>
            <p:spPr>
              <a:xfrm>
                <a:off x="3383280" y="1828800"/>
                <a:ext cx="457200" cy="457200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3383280" y="2377440"/>
                <a:ext cx="2377440" cy="91440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4000"/>
                  <a:t>88%</a:t>
                </a:r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3383280" y="3291840"/>
                <a:ext cx="2377440" cy="54864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t>Member renewal rate</a:t>
                </a:r>
              </a:p>
            </p:txBody>
          </p:sp>
        </p:grpSp>
        <p:grpSp>
          <p:nvGrpSpPr>
            <p:cNvPr id="13" name="Group 12"/>
            <p:cNvGrpSpPr/>
            <p:nvPr/>
          </p:nvGrpSpPr>
          <p:grpSpPr>
            <a:xfrm>
              <a:off x="6126480" y="1828800"/>
              <a:ext cx="2377440" cy="2011680"/>
              <a:chOff x="6126480" y="1828800"/>
              <a:chExt cx="2377440" cy="2011680"/>
            </a:xfrm>
          </p:grpSpPr>
          <p:sp>
            <p:nvSpPr>
              <p:cNvPr id="14" name="Oval 13"/>
              <p:cNvSpPr/>
              <p:nvPr/>
            </p:nvSpPr>
            <p:spPr>
              <a:xfrm>
                <a:off x="6126480" y="1828800"/>
                <a:ext cx="457200" cy="457200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6126480" y="2377440"/>
                <a:ext cx="2377440" cy="91440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4000"/>
                  <a:t>1.2x</a:t>
                </a:r>
              </a:p>
            </p:txBody>
          </p:sp>
          <p:sp>
            <p:nvSpPr>
              <p:cNvPr id="16" name="TextBox 15"/>
              <p:cNvSpPr txBox="1"/>
              <p:nvPr/>
            </p:nvSpPr>
            <p:spPr>
              <a:xfrm>
                <a:off x="6126480" y="3291840"/>
                <a:ext cx="2377440" cy="54864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t>Repair backlog vs weekly capacity</a:t>
                </a:r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Fleet and docks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640080" y="1828800"/>
            <a:ext cx="7863840" cy="1097280"/>
            <a:chOff x="640080" y="1828800"/>
            <a:chExt cx="7863840" cy="1097280"/>
          </a:xfrm>
        </p:grpSpPr>
        <p:sp>
          <p:nvSpPr>
            <p:cNvPr id="4" name="Rounded Rectangle 3"/>
            <p:cNvSpPr/>
            <p:nvPr/>
          </p:nvSpPr>
          <p:spPr>
            <a:xfrm>
              <a:off x="640080" y="1828800"/>
              <a:ext cx="7863840" cy="1097280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822960" y="2103120"/>
              <a:ext cx="7315200" cy="54864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sz="2400"/>
                <a:t>Fare revenue target of $3.1M for 2026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640080" y="329184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Two thirds of new docks are going to the east bank.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640080" y="5806440"/>
            <a:ext cx="7863840" cy="594360"/>
            <a:chOff x="640080" y="5806440"/>
            <a:chExt cx="7863840" cy="594360"/>
          </a:xfrm>
        </p:grpSpPr>
        <p:sp>
          <p:nvSpPr>
            <p:cNvPr id="8" name="Rectangle 7"/>
            <p:cNvSpPr/>
            <p:nvPr/>
          </p:nvSpPr>
          <p:spPr>
            <a:xfrm>
              <a:off x="640080" y="5806440"/>
              <a:ext cx="7863840" cy="27432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40080" y="5852160"/>
              <a:ext cx="7863840" cy="54864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sz="1000"/>
                <a:t>Riverside internal data, Q4 2025.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Riverside Bike Share: KPI tiles</dc:title>
  <dc:subject/>
  <dc:creator>onus</dc:creator>
  <cp:keywords/>
  <dc:description>generated using python-pptx</dc:description>
  <cp:lastModifiedBy>onus</cp:lastModifiedBy>
  <cp:revision>1</cp:revision>
  <dcterms:created xsi:type="dcterms:W3CDTF">2013-01-27T09:14:16Z</dcterms:created>
  <dcterms:modified xsi:type="dcterms:W3CDTF">2013-01-27T09:15:58Z</dcterms:modified>
  <cp:category/>
</cp:coreProperties>
</file>